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4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5"/>
      <p:bold r:id="rId16"/>
    </p:embeddedFont>
    <p:embeddedFont>
      <p:font typeface="Vazirmatn" panose="020B0604020202020204" charset="-78"/>
      <p:regular r:id="rId17"/>
      <p:bold r:id="rId18"/>
    </p:embeddedFont>
    <p:embeddedFont>
      <p:font typeface="Vazirmatn Black" panose="020B0604020202020204" charset="-78"/>
      <p:bold r:id="rId19"/>
    </p:embeddedFont>
    <p:embeddedFont>
      <p:font typeface="Vazirmatn Light" panose="020B0604020202020204" charset="-78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90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40960907e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g3b40960907e_2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b40960907e_2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40960907e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b40960907e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40960907e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b40960907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40960907e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b40960907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40960907e_0_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40960907e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40960907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b40960907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40960907e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b40960907e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40960907e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b40960907e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40960907e_0_1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b40960907e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40960907e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b40960907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40960907e_2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6" name="Google Shape;246;g3b40960907e_2_1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b40960907e_2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564340" y="2403986"/>
            <a:ext cx="7989723" cy="14674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49596" y="4063188"/>
            <a:ext cx="7975483" cy="6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3333FF"/>
              </a:buClr>
              <a:buSzPts val="2800"/>
              <a:buNone/>
              <a:defRPr sz="2800" b="0" i="0">
                <a:solidFill>
                  <a:srgbClr val="3333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48319" y="465530"/>
            <a:ext cx="6704649" cy="72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3600"/>
              <a:buFont typeface="Calibri"/>
              <a:buNone/>
              <a:defRPr sz="3600">
                <a:solidFill>
                  <a:srgbClr val="3333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48319" y="1229055"/>
            <a:ext cx="6704649" cy="351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532691" y="330632"/>
            <a:ext cx="8093365" cy="76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536879" y="1633400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2"/>
          </p:nvPr>
        </p:nvSpPr>
        <p:spPr>
          <a:xfrm>
            <a:off x="536879" y="2105797"/>
            <a:ext cx="4040188" cy="227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556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marL="1371600" lvl="2" indent="-3429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marL="2286000" lvl="4" indent="-3302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3"/>
          </p:nvPr>
        </p:nvSpPr>
        <p:spPr>
          <a:xfrm>
            <a:off x="4572000" y="1633400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4"/>
          </p:nvPr>
        </p:nvSpPr>
        <p:spPr>
          <a:xfrm>
            <a:off x="4572000" y="2105797"/>
            <a:ext cx="4041775" cy="2276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556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marL="1371600" lvl="2" indent="-3429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marL="1828800" lvl="3" indent="-3302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marL="2286000" lvl="4" indent="-3302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2" name="Google Shape;132;p25" descr="E:\websites\free-power-point-templates\2012\logo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github.com/M-Amin-Kiani/" TargetMode="External"/><Relationship Id="rId5" Type="http://schemas.openxmlformats.org/officeDocument/2006/relationships/hyperlink" Target="mailto:Aminkianiworkeng@gmail.com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ctrTitle"/>
          </p:nvPr>
        </p:nvSpPr>
        <p:spPr>
          <a:xfrm>
            <a:off x="114199" y="2354725"/>
            <a:ext cx="5769901" cy="1533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lang="fa-IR" sz="4400" b="1" dirty="0">
                <a:latin typeface="Vazirmatn Black"/>
                <a:ea typeface="Vazirmatn Black"/>
                <a:cs typeface="B Nazanin" panose="00000400000000000000" pitchFamily="2" charset="-78"/>
                <a:sym typeface="Vazirmatn Black"/>
              </a:rPr>
              <a:t>تشخیص ناهنجاری </a:t>
            </a:r>
            <a:endParaRPr sz="4400" b="1" dirty="0">
              <a:latin typeface="Vazirmatn Black"/>
              <a:ea typeface="Vazirmatn Black"/>
              <a:cs typeface="B Nazanin" panose="00000400000000000000" pitchFamily="2" charset="-78"/>
              <a:sym typeface="Vazirmatn Black"/>
            </a:endParaRPr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1"/>
          </p:nvPr>
        </p:nvSpPr>
        <p:spPr>
          <a:xfrm>
            <a:off x="114199" y="4180775"/>
            <a:ext cx="3193777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250"/>
              <a:buNone/>
            </a:pPr>
            <a:r>
              <a:rPr lang="en-GB" sz="1600" dirty="0">
                <a:latin typeface="Vazirmatn Light"/>
                <a:ea typeface="Vazirmatn Light"/>
                <a:cs typeface="B Nazanin" panose="00000400000000000000" pitchFamily="2" charset="-78"/>
                <a:sym typeface="Vazirmatn Light"/>
              </a:rPr>
              <a:t>محمد امین کیانی 4043644008</a:t>
            </a:r>
            <a:endParaRPr sz="1600" dirty="0">
              <a:latin typeface="Vazirmatn Light"/>
              <a:ea typeface="Vazirmatn Light"/>
              <a:cs typeface="B Nazanin" panose="00000400000000000000" pitchFamily="2" charset="-78"/>
              <a:sym typeface="Vazirmatn Light"/>
            </a:endParaRPr>
          </a:p>
          <a:p>
            <a:pPr marL="0" lvl="0" indent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250"/>
              <a:buNone/>
            </a:pPr>
            <a:r>
              <a:rPr lang="en-GB" sz="1600" dirty="0">
                <a:latin typeface="Vazirmatn Light"/>
                <a:ea typeface="Vazirmatn Light"/>
                <a:cs typeface="B Nazanin" panose="00000400000000000000" pitchFamily="2" charset="-78"/>
                <a:sym typeface="Vazirmatn Light"/>
              </a:rPr>
              <a:t>دانشجوی کارشناسی ارشد -</a:t>
            </a:r>
            <a:r>
              <a:rPr lang="fa-IR" sz="1600" dirty="0">
                <a:latin typeface="Vazirmatn Light"/>
                <a:ea typeface="Vazirmatn Light"/>
                <a:cs typeface="B Nazanin" panose="00000400000000000000" pitchFamily="2" charset="-78"/>
                <a:sym typeface="Vazirmatn Light"/>
              </a:rPr>
              <a:t> </a:t>
            </a:r>
            <a:r>
              <a:rPr lang="en-GB" sz="1600" dirty="0">
                <a:latin typeface="Vazirmatn Light"/>
                <a:ea typeface="Vazirmatn Light"/>
                <a:cs typeface="B Nazanin" panose="00000400000000000000" pitchFamily="2" charset="-78"/>
                <a:sym typeface="Vazirmatn Light"/>
              </a:rPr>
              <a:t> هوش مصنوعی</a:t>
            </a:r>
            <a:endParaRPr sz="1600" dirty="0">
              <a:latin typeface="Vazirmatn Light"/>
              <a:ea typeface="Vazirmatn Light"/>
              <a:cs typeface="B Nazanin" panose="00000400000000000000" pitchFamily="2" charset="-78"/>
              <a:sym typeface="Vazirmatn Light"/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2635" y="82265"/>
            <a:ext cx="703696" cy="66944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5303312" y="102393"/>
            <a:ext cx="3329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dirty="0">
              <a:solidFill>
                <a:schemeClr val="lt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1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درس شبکه‌های عصبی عمیق- 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نیم‌سال اول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تحصیلی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05-1404</a:t>
            </a:r>
            <a:endParaRPr sz="800" dirty="0">
              <a:solidFill>
                <a:schemeClr val="lt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1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استاد محترم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: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دکتر برادران</a:t>
            </a:r>
            <a:endParaRPr sz="800" dirty="0">
              <a:solidFill>
                <a:schemeClr val="lt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1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تاریخ تدوین :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1404/11/27</a:t>
            </a:r>
            <a:endParaRPr sz="800" dirty="0">
              <a:solidFill>
                <a:schemeClr val="lt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42" name="Google Shape;142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r>
              <a:rPr lang="en-GB" dirty="0"/>
              <a:t>/1</a:t>
            </a:r>
            <a:r>
              <a:rPr lang="fa-IR" dirty="0"/>
              <a:t>1</a:t>
            </a:r>
            <a:endParaRPr dirty="0"/>
          </a:p>
        </p:txBody>
      </p:sp>
      <p:pic>
        <p:nvPicPr>
          <p:cNvPr id="3" name="Image 0" descr="/mnt/data/slide_assets/mvtec_ad_overview_dark.png">
            <a:extLst>
              <a:ext uri="{FF2B5EF4-FFF2-40B4-BE49-F238E27FC236}">
                <a16:creationId xmlns:a16="http://schemas.microsoft.com/office/drawing/2014/main" id="{1F9EFA81-3205-A870-53CC-A3CB022CF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</a:extLst>
          </a:blip>
          <a:srcRect t="7358" b="7358"/>
          <a:stretch/>
        </p:blipFill>
        <p:spPr>
          <a:xfrm>
            <a:off x="6129609" y="2008295"/>
            <a:ext cx="2738727" cy="2226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50CFF9-4F73-8FFD-B7E4-2522DFDB2302}"/>
              </a:ext>
            </a:extLst>
          </p:cNvPr>
          <p:cNvSpPr txBox="1"/>
          <p:nvPr/>
        </p:nvSpPr>
        <p:spPr>
          <a:xfrm>
            <a:off x="1298654" y="3666169"/>
            <a:ext cx="4585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مقاله پایه 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EfficientAD (WACV 2024)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8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62" name="Google Shape;162;p28"/>
          <p:cNvSpPr/>
          <p:nvPr/>
        </p:nvSpPr>
        <p:spPr>
          <a:xfrm>
            <a:off x="2790265" y="159371"/>
            <a:ext cx="4456116" cy="4360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206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مسئله: تشخیص ناهنجاری در تصاویر صنعتی</a:t>
            </a: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r>
              <a:rPr lang="fa-IR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- هدف: تشخیص قطعات معیوب/ناهنجار بدون داشتن نمونه‌های کافی از همه‌ی عیوب</a:t>
            </a: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r>
              <a:rPr lang="fa-IR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- ورودی: فقط تصاویر سالم برای آموزش (</a:t>
            </a:r>
            <a:r>
              <a:rPr lang="en-US" sz="1200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unsupervised / one-class</a:t>
            </a:r>
            <a:r>
              <a:rPr lang="fa-IR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)</a:t>
            </a:r>
          </a:p>
          <a:p>
            <a:pPr algn="just" rtl="1"/>
            <a:endParaRPr lang="en-US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r>
              <a:rPr lang="fa-IR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- خروجی: ۱) نمره ناهنجاری سطح تصویر ۲) نقشه مکان‌یابی عیب</a:t>
            </a:r>
          </a:p>
          <a:p>
            <a:pPr algn="just" rtl="1"/>
            <a:endParaRPr lang="en-US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r>
              <a:rPr lang="fa-IR" i="0" u="none" strike="noStrike" cap="none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- چالش: هم عیوب «موضعی» (خراش/آلودگی) و هم عیوب «منطقی» (چیدمان/کمبود قطعه)</a:t>
            </a:r>
          </a:p>
          <a:p>
            <a:pPr algn="just" rtl="1"/>
            <a:endParaRPr lang="fa-IR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endParaRPr lang="fa-IR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algn="just" rtl="1"/>
            <a:endParaRPr lang="fa-IR" i="0" u="none" strike="noStrike" cap="none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D4013D-B921-4ADE-B4B2-0939ADB49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52" y="1714499"/>
            <a:ext cx="2414884" cy="3189713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71" name="Google Shape;171;p29"/>
          <p:cNvSpPr txBox="1"/>
          <p:nvPr/>
        </p:nvSpPr>
        <p:spPr>
          <a:xfrm>
            <a:off x="2515150" y="159375"/>
            <a:ext cx="4928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en-GB" sz="18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EfficientAD</a:t>
            </a:r>
            <a:r>
              <a:rPr lang="fa-IR" sz="18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در یک نگاه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9F877-B5F3-1A40-D89B-CE408F7841F8}"/>
              </a:ext>
            </a:extLst>
          </p:cNvPr>
          <p:cNvSpPr txBox="1"/>
          <p:nvPr/>
        </p:nvSpPr>
        <p:spPr>
          <a:xfrm>
            <a:off x="51175" y="713343"/>
            <a:ext cx="73923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1">
              <a:buFontTx/>
              <a:buChar char="-"/>
            </a:pP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معلم فریز شده: استخراج ویژگی‌های سریع (</a:t>
            </a:r>
            <a:r>
              <a:rPr lang="en-US" sz="1200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PDN</a:t>
            </a: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)</a:t>
            </a:r>
          </a:p>
          <a:p>
            <a:pPr marL="285750" indent="-285750" algn="just" rtl="1">
              <a:buFontTx/>
              <a:buChar char="-"/>
            </a:pPr>
            <a:endParaRPr lang="en-US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285750" indent="-285750" algn="just" rtl="1">
              <a:buFontTx/>
              <a:buChar char="-"/>
            </a:pP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شاگرد: تقلید ویژگی‌های معلم فقط با تصاویر سالم</a:t>
            </a:r>
          </a:p>
          <a:p>
            <a:pPr marL="285750" indent="-285750" algn="just" rtl="1">
              <a:buFontTx/>
              <a:buChar char="-"/>
            </a:pPr>
            <a:endParaRPr lang="fa-IR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285750" indent="-285750" algn="just" rtl="1">
              <a:buFontTx/>
              <a:buChar char="-"/>
            </a:pP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خودرمزگذار</a:t>
            </a:r>
            <a:r>
              <a:rPr lang="en-US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سراسری: کمک به تشخیص ناهنجاری‌های «منطقی»/غیرموضعی</a:t>
            </a:r>
          </a:p>
          <a:p>
            <a:pPr marL="285750" indent="-285750" algn="just" rtl="1">
              <a:buFontTx/>
              <a:buChar char="-"/>
            </a:pPr>
            <a:endParaRPr lang="fa-IR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285750" indent="-285750" algn="just" rtl="1">
              <a:buFontTx/>
              <a:buChar char="-"/>
            </a:pP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نقشه ناهنجاری برابر است با اختلاف</a:t>
            </a:r>
            <a:r>
              <a:rPr lang="en-US" sz="1200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Teacher</a:t>
            </a:r>
            <a:r>
              <a:rPr lang="en-US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–</a:t>
            </a:r>
            <a:r>
              <a:rPr lang="en-US" sz="1200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Student</a:t>
            </a:r>
            <a:r>
              <a:rPr lang="en-US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(موضعی) + اختلاف</a:t>
            </a:r>
            <a:r>
              <a:rPr lang="en-US" sz="1200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AE–Student</a:t>
            </a:r>
            <a:r>
              <a:rPr lang="en-US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r>
              <a:rPr lang="fa-IR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(سراسری)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62CE6-8D50-0222-BEE5-B84EE01BA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16788" b="4177"/>
          <a:stretch>
            <a:fillRect/>
          </a:stretch>
        </p:blipFill>
        <p:spPr>
          <a:xfrm>
            <a:off x="470647" y="2313781"/>
            <a:ext cx="5318312" cy="2395167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78" name="Google Shape;178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79" name="Google Shape;179;p30"/>
          <p:cNvSpPr txBox="1"/>
          <p:nvPr/>
        </p:nvSpPr>
        <p:spPr>
          <a:xfrm>
            <a:off x="1456660" y="159375"/>
            <a:ext cx="598689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اجزای کلیدی حل مشکلات روش‌های قبل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D57280-AEF0-2212-1CF5-B50F88E0B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9989"/>
            <a:ext cx="7510182" cy="4313511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87" name="Google Shape;187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88" name="Google Shape;188;p31"/>
          <p:cNvSpPr txBox="1"/>
          <p:nvPr/>
        </p:nvSpPr>
        <p:spPr>
          <a:xfrm>
            <a:off x="2515150" y="159375"/>
            <a:ext cx="4928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دیتاست‌ها و معیارهای ارزیابی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EAFE8-908C-712B-AF1E-CE16A6902556}"/>
              </a:ext>
            </a:extLst>
          </p:cNvPr>
          <p:cNvSpPr txBox="1"/>
          <p:nvPr/>
        </p:nvSpPr>
        <p:spPr>
          <a:xfrm>
            <a:off x="2848298" y="713343"/>
            <a:ext cx="4587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حداقل روی ۲ دیتاست: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sz="1100" dirty="0">
                <a:cs typeface="B Nazanin" panose="00000400000000000000" pitchFamily="2" charset="-78"/>
              </a:rPr>
              <a:t>MVTec</a:t>
            </a:r>
            <a:r>
              <a:rPr lang="en-US" sz="1200" dirty="0">
                <a:cs typeface="B Nazanin" panose="00000400000000000000" pitchFamily="2" charset="-78"/>
              </a:rPr>
              <a:t> </a:t>
            </a:r>
            <a:r>
              <a:rPr lang="en-US" sz="1100" dirty="0">
                <a:cs typeface="B Nazanin" panose="00000400000000000000" pitchFamily="2" charset="-78"/>
              </a:rPr>
              <a:t>AD</a:t>
            </a:r>
            <a:r>
              <a:rPr lang="en-US" sz="1200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و </a:t>
            </a:r>
            <a:r>
              <a:rPr lang="en-US" sz="1100" dirty="0">
                <a:cs typeface="B Nazanin" panose="00000400000000000000" pitchFamily="2" charset="-78"/>
              </a:rPr>
              <a:t>MVTec LOCO AD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9BA01-E22D-7571-4284-09CE2A0FD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5786"/>
            <a:ext cx="7496735" cy="4037714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2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196" name="Google Shape;196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197" name="Google Shape;197;p32"/>
          <p:cNvSpPr txBox="1"/>
          <p:nvPr/>
        </p:nvSpPr>
        <p:spPr>
          <a:xfrm>
            <a:off x="2515150" y="159375"/>
            <a:ext cx="4928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پیاده‌سازی و صحت‌سنجی در </a:t>
            </a:r>
            <a:r>
              <a:rPr lang="en-GB" sz="18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Google Colab</a:t>
            </a:r>
            <a:endParaRPr lang="en-GB" sz="2400" b="1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45F6B-C9BA-6245-2F79-C8690EC0E1A6}"/>
              </a:ext>
            </a:extLst>
          </p:cNvPr>
          <p:cNvSpPr txBox="1"/>
          <p:nvPr/>
        </p:nvSpPr>
        <p:spPr>
          <a:xfrm>
            <a:off x="51175" y="636375"/>
            <a:ext cx="7392375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1) کلون ریپو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sz="1100" dirty="0">
                <a:cs typeface="B Nazanin" panose="00000400000000000000" pitchFamily="2" charset="-78"/>
              </a:rPr>
              <a:t>nelson1425/EfficientAD </a:t>
            </a:r>
            <a:r>
              <a:rPr lang="fa-IR" dirty="0">
                <a:cs typeface="B Nazanin" panose="00000400000000000000" pitchFamily="2" charset="-78"/>
              </a:rPr>
              <a:t>و دانلود وزن‌های </a:t>
            </a:r>
            <a:r>
              <a:rPr lang="en-US" sz="1100" dirty="0">
                <a:cs typeface="B Nazanin" panose="00000400000000000000" pitchFamily="2" charset="-78"/>
              </a:rPr>
              <a:t>Teacher (small/medium)</a:t>
            </a:r>
            <a:endParaRPr lang="fa-IR" sz="1100" dirty="0">
              <a:cs typeface="B Nazanin" panose="00000400000000000000" pitchFamily="2" charset="-78"/>
            </a:endParaRPr>
          </a:p>
          <a:p>
            <a:pPr marL="228600" indent="-228600" algn="r" rtl="1">
              <a:buAutoNum type="arabicParenR"/>
            </a:pPr>
            <a:endParaRPr lang="en-US" sz="1100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۲) دانلود دیتاست‌ها از لینک‌های رسمی </a:t>
            </a: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۳) اجرای </a:t>
            </a:r>
            <a:r>
              <a:rPr lang="en-US" sz="1100" dirty="0">
                <a:cs typeface="B Nazanin" panose="00000400000000000000" pitchFamily="2" charset="-78"/>
              </a:rPr>
              <a:t>efficientad_tb.py</a:t>
            </a:r>
            <a:r>
              <a:rPr lang="fa-IR" sz="1100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: آموزش </a:t>
            </a:r>
            <a:r>
              <a:rPr lang="en-US" sz="1100" dirty="0">
                <a:cs typeface="B Nazanin" panose="00000400000000000000" pitchFamily="2" charset="-78"/>
              </a:rPr>
              <a:t>Student+AE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 و تولید </a:t>
            </a:r>
            <a:r>
              <a:rPr lang="en-US" sz="1100" dirty="0">
                <a:cs typeface="B Nazanin" panose="00000400000000000000" pitchFamily="2" charset="-78"/>
              </a:rPr>
              <a:t>anomaly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en-US" sz="1100" dirty="0">
                <a:cs typeface="B Nazanin" panose="00000400000000000000" pitchFamily="2" charset="-78"/>
              </a:rPr>
              <a:t>map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برای </a:t>
            </a:r>
            <a:r>
              <a:rPr lang="en-US" sz="1100" dirty="0">
                <a:cs typeface="B Nazanin" panose="00000400000000000000" pitchFamily="2" charset="-78"/>
              </a:rPr>
              <a:t>test</a:t>
            </a:r>
            <a:endParaRPr lang="fa-IR" sz="1100" dirty="0">
              <a:cs typeface="B Nazanin" panose="00000400000000000000" pitchFamily="2" charset="-78"/>
            </a:endParaRP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۴) ثبت </a:t>
            </a:r>
            <a:r>
              <a:rPr lang="en-US" dirty="0">
                <a:cs typeface="B Nazanin" panose="00000400000000000000" pitchFamily="2" charset="-78"/>
              </a:rPr>
              <a:t>loss</a:t>
            </a:r>
            <a:r>
              <a:rPr lang="fa-IR" dirty="0">
                <a:cs typeface="B Nazanin" panose="00000400000000000000" pitchFamily="2" charset="-78"/>
              </a:rPr>
              <a:t>ها و متریک‌ها در</a:t>
            </a:r>
            <a:r>
              <a:rPr lang="en-US" sz="1100" dirty="0">
                <a:cs typeface="B Nazanin" panose="00000400000000000000" pitchFamily="2" charset="-78"/>
              </a:rPr>
              <a:t>TensorBoard (train + test) </a:t>
            </a:r>
            <a:r>
              <a:rPr lang="fa-IR" sz="1100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و ذخیره وزن‌ها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۵) استخراج خروجی‌ها: </a:t>
            </a:r>
            <a:r>
              <a:rPr lang="en-US" sz="1100" dirty="0">
                <a:cs typeface="B Nazanin" panose="00000400000000000000" pitchFamily="2" charset="-78"/>
              </a:rPr>
              <a:t>final_metrics.json + anomaly_maps + weights_report.csv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2C8BE-4D08-99AB-D762-8545569FF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612" y="3119438"/>
            <a:ext cx="2924175" cy="1647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A48F8-7DB9-43CE-CCBE-CCB0A20EE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698" y="3182429"/>
            <a:ext cx="1647825" cy="1647825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205" name="Google Shape;205;p3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206" name="Google Shape;206;p33"/>
          <p:cNvSpPr txBox="1"/>
          <p:nvPr/>
        </p:nvSpPr>
        <p:spPr>
          <a:xfrm>
            <a:off x="2515150" y="159375"/>
            <a:ext cx="4928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نتایج بازتولید (</a:t>
            </a:r>
            <a:r>
              <a:rPr lang="en-GB" sz="18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Baseline</a:t>
            </a: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)</a:t>
            </a:r>
            <a:endParaRPr lang="en-GB" sz="2400" b="1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DF1CF-CE04-EB24-00D2-A76DA7CD6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13343"/>
            <a:ext cx="7515434" cy="4412436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4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214" name="Google Shape;214;p3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215" name="Google Shape;215;p34"/>
          <p:cNvSpPr txBox="1"/>
          <p:nvPr/>
        </p:nvSpPr>
        <p:spPr>
          <a:xfrm>
            <a:off x="1481225" y="159375"/>
            <a:ext cx="5962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مشاهدات/محدودیت‌ها در بازتولید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4DC381-625D-8A7F-A820-3D723C0B6DD3}"/>
              </a:ext>
            </a:extLst>
          </p:cNvPr>
          <p:cNvSpPr txBox="1"/>
          <p:nvPr/>
        </p:nvSpPr>
        <p:spPr>
          <a:xfrm>
            <a:off x="500584" y="636375"/>
            <a:ext cx="69428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endParaRPr lang="fa-IR" dirty="0">
              <a:cs typeface="B Nazanin" panose="00000400000000000000" pitchFamily="2" charset="-78"/>
            </a:endParaRPr>
          </a:p>
          <a:p>
            <a:pPr algn="just" rtl="1"/>
            <a:r>
              <a:rPr lang="fa-IR" sz="1600" dirty="0">
                <a:cs typeface="B Nazanin" panose="00000400000000000000" pitchFamily="2" charset="-78"/>
              </a:rPr>
              <a:t>- لینک‌های قدیمی </a:t>
            </a:r>
            <a:r>
              <a:rPr lang="en-US" sz="1200" dirty="0">
                <a:cs typeface="B Nazanin" panose="00000400000000000000" pitchFamily="2" charset="-78"/>
              </a:rPr>
              <a:t>mydrive</a:t>
            </a:r>
            <a:r>
              <a:rPr lang="fa-IR" sz="1600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منسوخ شده‌اند که روش بهتری وجود دارد اما دارای محدودیت: دانلود از صفحات رسمی </a:t>
            </a:r>
            <a:r>
              <a:rPr lang="en-US" sz="1200" dirty="0">
                <a:cs typeface="B Nazanin" panose="00000400000000000000" pitchFamily="2" charset="-78"/>
              </a:rPr>
              <a:t>MVTec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 و </a:t>
            </a:r>
            <a:r>
              <a:rPr lang="en-US" sz="1200" dirty="0">
                <a:cs typeface="B Nazanin" panose="00000400000000000000" pitchFamily="2" charset="-78"/>
              </a:rPr>
              <a:t>object-level</a:t>
            </a:r>
            <a:endParaRPr lang="en-US" sz="1600" dirty="0">
              <a:cs typeface="B Nazanin" panose="00000400000000000000" pitchFamily="2" charset="-78"/>
            </a:endParaRPr>
          </a:p>
          <a:p>
            <a:pPr algn="just" rtl="1"/>
            <a:endParaRPr lang="fa-IR" sz="1600" dirty="0">
              <a:cs typeface="B Nazanin" panose="00000400000000000000" pitchFamily="2" charset="-78"/>
            </a:endParaRPr>
          </a:p>
          <a:p>
            <a:pPr algn="just" rtl="1"/>
            <a:r>
              <a:rPr lang="fa-IR" sz="1600" dirty="0">
                <a:cs typeface="B Nazanin" panose="00000400000000000000" pitchFamily="2" charset="-78"/>
              </a:rPr>
              <a:t>- دانلود کامل چندین گیگ دیتاست در</a:t>
            </a:r>
            <a:r>
              <a:rPr lang="en-US" sz="1200" dirty="0">
                <a:cs typeface="B Nazanin" panose="00000400000000000000" pitchFamily="2" charset="-78"/>
              </a:rPr>
              <a:t>Colab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گاهی ناقص می‌شود پس به‌جای </a:t>
            </a:r>
            <a:r>
              <a:rPr lang="en-US" sz="1200" dirty="0">
                <a:cs typeface="B Nazanin" panose="00000400000000000000" pitchFamily="2" charset="-78"/>
              </a:rPr>
              <a:t>FULL</a:t>
            </a:r>
            <a:r>
              <a:rPr lang="en-US" sz="1600" dirty="0">
                <a:cs typeface="B Nazanin" panose="00000400000000000000" pitchFamily="2" charset="-78"/>
              </a:rPr>
              <a:t>، </a:t>
            </a:r>
            <a:r>
              <a:rPr lang="fa-IR" sz="1600" dirty="0">
                <a:cs typeface="B Nazanin" panose="00000400000000000000" pitchFamily="2" charset="-78"/>
              </a:rPr>
              <a:t>کلاس‌ها را جداگانه گرفتیم.</a:t>
            </a:r>
          </a:p>
          <a:p>
            <a:pPr algn="just" rtl="1"/>
            <a:endParaRPr lang="fa-IR" dirty="0">
              <a:cs typeface="B Nazanin" panose="00000400000000000000" pitchFamily="2" charset="-78"/>
            </a:endParaRPr>
          </a:p>
          <a:p>
            <a:pPr algn="just" rtl="1"/>
            <a:r>
              <a:rPr lang="fa-IR" sz="1600" dirty="0">
                <a:cs typeface="B Nazanin" panose="00000400000000000000" pitchFamily="2" charset="-78"/>
              </a:rPr>
              <a:t>- در </a:t>
            </a:r>
            <a:r>
              <a:rPr lang="en-US" sz="1200" dirty="0">
                <a:cs typeface="B Nazanin" panose="00000400000000000000" pitchFamily="2" charset="-78"/>
              </a:rPr>
              <a:t>LOCO</a:t>
            </a:r>
            <a:r>
              <a:rPr lang="en-US" sz="1600" dirty="0">
                <a:cs typeface="B Nazanin" panose="00000400000000000000" pitchFamily="2" charset="-78"/>
              </a:rPr>
              <a:t>، </a:t>
            </a:r>
            <a:r>
              <a:rPr lang="fa-IR" sz="1600" dirty="0">
                <a:cs typeface="B Nazanin" panose="00000400000000000000" pitchFamily="2" charset="-78"/>
              </a:rPr>
              <a:t>ماسک‌ها و نام‌گذاری‌شان با </a:t>
            </a:r>
            <a:r>
              <a:rPr lang="en-US" sz="1200" dirty="0">
                <a:cs typeface="B Nazanin" panose="00000400000000000000" pitchFamily="2" charset="-78"/>
              </a:rPr>
              <a:t>MVTec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200" dirty="0">
                <a:cs typeface="B Nazanin" panose="00000400000000000000" pitchFamily="2" charset="-78"/>
              </a:rPr>
              <a:t>AD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فرق دارد پس ارزیابی </a:t>
            </a:r>
            <a:r>
              <a:rPr lang="en-US" sz="1200" dirty="0">
                <a:cs typeface="B Nazanin" panose="00000400000000000000" pitchFamily="2" charset="-78"/>
              </a:rPr>
              <a:t>pixel-level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باید </a:t>
            </a:r>
            <a:r>
              <a:rPr lang="en-US" sz="1200" dirty="0">
                <a:cs typeface="B Nazanin" panose="00000400000000000000" pitchFamily="2" charset="-78"/>
              </a:rPr>
              <a:t>dataset-aware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باشد.</a:t>
            </a:r>
          </a:p>
          <a:p>
            <a:pPr algn="just" rtl="1"/>
            <a:endParaRPr lang="fa-IR" sz="1600" dirty="0">
              <a:cs typeface="B Nazanin" panose="00000400000000000000" pitchFamily="2" charset="-78"/>
            </a:endParaRPr>
          </a:p>
          <a:p>
            <a:pPr algn="just" rtl="1"/>
            <a:r>
              <a:rPr lang="fa-IR" sz="1600" dirty="0">
                <a:cs typeface="B Nazanin" panose="00000400000000000000" pitchFamily="2" charset="-78"/>
              </a:rPr>
              <a:t>- محاسبه </a:t>
            </a:r>
            <a:r>
              <a:rPr lang="en-US" sz="1200" dirty="0">
                <a:cs typeface="B Nazanin" panose="00000400000000000000" pitchFamily="2" charset="-78"/>
              </a:rPr>
              <a:t>AU-PRO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دقیق روی کل پیکسل‌ها </a:t>
            </a:r>
            <a:r>
              <a:rPr lang="en-US" sz="1200" dirty="0">
                <a:cs typeface="B Nazanin" panose="00000400000000000000" pitchFamily="2" charset="-78"/>
              </a:rPr>
              <a:t>RAM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زیادی می‌خواهد که راه‌حل: محاسبه </a:t>
            </a:r>
            <a:r>
              <a:rPr lang="en-US" sz="1200" dirty="0">
                <a:cs typeface="B Nazanin" panose="00000400000000000000" pitchFamily="2" charset="-78"/>
              </a:rPr>
              <a:t>streaming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/</a:t>
            </a:r>
            <a:r>
              <a:rPr lang="en-US" sz="1600" dirty="0">
                <a:cs typeface="B Nazanin" panose="00000400000000000000" pitchFamily="2" charset="-78"/>
              </a:rPr>
              <a:t> </a:t>
            </a:r>
            <a:r>
              <a:rPr lang="en-US" sz="1200" dirty="0">
                <a:cs typeface="B Nazanin" panose="00000400000000000000" pitchFamily="2" charset="-78"/>
              </a:rPr>
              <a:t>disk-based</a:t>
            </a:r>
            <a:endParaRPr lang="en-US" sz="1600" dirty="0">
              <a:cs typeface="B Nazanin" panose="00000400000000000000" pitchFamily="2" charset="-78"/>
            </a:endParaRPr>
          </a:p>
          <a:p>
            <a:pPr algn="just" rtl="1"/>
            <a:endParaRPr lang="fa-IR" sz="1600" dirty="0">
              <a:cs typeface="B Nazanin" panose="00000400000000000000" pitchFamily="2" charset="-78"/>
            </a:endParaRPr>
          </a:p>
          <a:p>
            <a:pPr algn="just" rtl="1"/>
            <a:r>
              <a:rPr lang="fa-IR" sz="1600" dirty="0">
                <a:cs typeface="B Nazanin" panose="00000400000000000000" pitchFamily="2" charset="-78"/>
              </a:rPr>
              <a:t>- </a:t>
            </a:r>
            <a:r>
              <a:rPr lang="en-US" sz="1200" dirty="0">
                <a:cs typeface="B Nazanin" panose="00000400000000000000" pitchFamily="2" charset="-78"/>
              </a:rPr>
              <a:t>TRAIN_STEPS</a:t>
            </a:r>
            <a:r>
              <a:rPr lang="en-US" dirty="0">
                <a:cs typeface="B Nazanin" panose="00000400000000000000" pitchFamily="2" charset="-78"/>
              </a:rPr>
              <a:t>=</a:t>
            </a:r>
            <a:r>
              <a:rPr lang="en-US" sz="1200" dirty="0">
                <a:cs typeface="B Nazanin" panose="00000400000000000000" pitchFamily="2" charset="-78"/>
              </a:rPr>
              <a:t>70000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برای همه کلاس‌ها زمان‌بر است پس نسخه‌ی </a:t>
            </a:r>
            <a:r>
              <a:rPr lang="en-US" sz="1200" dirty="0">
                <a:cs typeface="B Nazanin" panose="00000400000000000000" pitchFamily="2" charset="-78"/>
              </a:rPr>
              <a:t>QUICK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sz="1600" dirty="0">
                <a:cs typeface="B Nazanin" panose="00000400000000000000" pitchFamily="2" charset="-78"/>
              </a:rPr>
              <a:t>را اجرا کردیم.</a:t>
            </a:r>
            <a:endParaRPr lang="en-US" sz="16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223" name="Google Shape;223;p3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224" name="Google Shape;224;p35"/>
          <p:cNvSpPr txBox="1"/>
          <p:nvPr/>
        </p:nvSpPr>
        <p:spPr>
          <a:xfrm>
            <a:off x="1921200" y="159375"/>
            <a:ext cx="55224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24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ایده جدید </a:t>
            </a:r>
            <a:endParaRPr sz="1600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3737A-F58F-590B-7112-21325430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2" y="713343"/>
            <a:ext cx="7345558" cy="4399176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884" y="159371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6"/>
          <p:cNvSpPr txBox="1"/>
          <p:nvPr/>
        </p:nvSpPr>
        <p:spPr>
          <a:xfrm>
            <a:off x="7626125" y="830000"/>
            <a:ext cx="1466700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232" name="Google Shape;232;p3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r>
              <a:rPr lang="en-GB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fa-IR" sz="1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/>
          </a:p>
        </p:txBody>
      </p:sp>
      <p:sp>
        <p:nvSpPr>
          <p:cNvPr id="233" name="Google Shape;233;p36"/>
          <p:cNvSpPr txBox="1"/>
          <p:nvPr/>
        </p:nvSpPr>
        <p:spPr>
          <a:xfrm>
            <a:off x="2515150" y="159375"/>
            <a:ext cx="49284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120650" algn="just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Vazirmatn"/>
              <a:buChar char="•"/>
            </a:pPr>
            <a:r>
              <a:rPr lang="fa-IR" sz="1900" b="1" dirty="0">
                <a:solidFill>
                  <a:schemeClr val="dk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پیاده‌سازی ایده </a:t>
            </a:r>
            <a:endParaRPr sz="1300" dirty="0">
              <a:solidFill>
                <a:schemeClr val="dk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BAE80-C40F-A8B8-414A-CB6A81538CB5}"/>
              </a:ext>
            </a:extLst>
          </p:cNvPr>
          <p:cNvSpPr txBox="1"/>
          <p:nvPr/>
        </p:nvSpPr>
        <p:spPr>
          <a:xfrm>
            <a:off x="51176" y="636375"/>
            <a:ext cx="7195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fa-IR" dirty="0">
                <a:cs typeface="B Nazanin" panose="00000400000000000000" pitchFamily="2" charset="-78"/>
              </a:rPr>
              <a:t>نتایج بهبود یافت.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A428A-D349-640D-CBB2-8E4C48259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14" y="1021191"/>
            <a:ext cx="7316735" cy="4019972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/>
        </p:nvSpPr>
        <p:spPr>
          <a:xfrm>
            <a:off x="36709" y="1400809"/>
            <a:ext cx="90705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https://openaccess.thecvf.com/content/WACV2024/papers/Batzner_EfficientAD_Accurate_Visual_Anomaly_Detection_at_Millisecond-Level_Latencies_WACV_2024_paper.pdf </a:t>
            </a:r>
            <a:endParaRPr lang="fa-IR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-GB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https://openaccess.thecvf.com/content/CVPR2022/papers/Roth_Towards_Total_Recall_in_Industrial_Anomaly_Detection_CVPR_2022_paper</a:t>
            </a:r>
            <a:r>
              <a:rPr lang="en-GB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https://arxiv.org/pdf/2202.08871</a:t>
            </a:r>
            <a:endParaRPr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5188" y="275792"/>
            <a:ext cx="707197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8"/>
          <p:cNvSpPr txBox="1"/>
          <p:nvPr/>
        </p:nvSpPr>
        <p:spPr>
          <a:xfrm>
            <a:off x="7014096" y="408104"/>
            <a:ext cx="1419526" cy="45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دانشکده مهندسی کامپیوتر</a:t>
            </a:r>
            <a:endParaRPr sz="800" i="0" u="none" strike="noStrike" cap="none" dirty="0">
              <a:solidFill>
                <a:srgbClr val="FFFFFF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  <a:p>
            <a:pPr marL="0" marR="0" lvl="0" indent="0" algn="ctr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ارائه‌ی </a:t>
            </a:r>
            <a:r>
              <a:rPr lang="en-GB" sz="8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شبکه‌های عصبی عمیق</a:t>
            </a:r>
            <a:r>
              <a:rPr lang="en-GB" sz="800" i="0" u="none" strike="noStrike" cap="none" dirty="0">
                <a:solidFill>
                  <a:srgbClr val="FFFFFF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 </a:t>
            </a:r>
            <a:endParaRPr dirty="0"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sp>
        <p:nvSpPr>
          <p:cNvPr id="252" name="Google Shape;252;p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r>
              <a:rPr lang="en-GB" dirty="0"/>
              <a:t>/</a:t>
            </a:r>
            <a:r>
              <a:rPr lang="fa-IR" dirty="0"/>
              <a:t>11</a:t>
            </a:r>
            <a:endParaRPr dirty="0"/>
          </a:p>
        </p:txBody>
      </p:sp>
      <p:pic>
        <p:nvPicPr>
          <p:cNvPr id="253" name="Google Shape;253;p38"/>
          <p:cNvPicPr preferRelativeResize="0"/>
          <p:nvPr/>
        </p:nvPicPr>
        <p:blipFill rotWithShape="1">
          <a:blip r:embed="rId4">
            <a:alphaModFix/>
          </a:blip>
          <a:srcRect l="19779" r="23418"/>
          <a:stretch/>
        </p:blipFill>
        <p:spPr>
          <a:xfrm>
            <a:off x="36709" y="2354876"/>
            <a:ext cx="3754380" cy="26907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 txBox="1"/>
          <p:nvPr/>
        </p:nvSpPr>
        <p:spPr>
          <a:xfrm>
            <a:off x="1220556" y="3436701"/>
            <a:ext cx="1386685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GB" sz="1100" b="1" dirty="0" err="1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با</a:t>
            </a:r>
            <a:r>
              <a:rPr lang="en-GB" sz="1100" b="1" dirty="0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 </a:t>
            </a:r>
            <a:r>
              <a:rPr lang="en-GB" sz="1100" b="1" dirty="0" err="1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تشکر</a:t>
            </a:r>
            <a:r>
              <a:rPr lang="en-GB" sz="1100" b="1" dirty="0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 </a:t>
            </a:r>
            <a:r>
              <a:rPr lang="en-GB" sz="1100" b="1" dirty="0" err="1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از</a:t>
            </a:r>
            <a:r>
              <a:rPr lang="en-GB" sz="1100" b="1" dirty="0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 </a:t>
            </a:r>
            <a:r>
              <a:rPr lang="en-GB" sz="1100" b="1" dirty="0" err="1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توجه</a:t>
            </a:r>
            <a:r>
              <a:rPr lang="en-GB" sz="1100" b="1" dirty="0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 </a:t>
            </a:r>
            <a:r>
              <a:rPr lang="en-GB" sz="1100" b="1" dirty="0" err="1">
                <a:solidFill>
                  <a:schemeClr val="lt1"/>
                </a:solidFill>
                <a:cs typeface="B Nazanin" panose="00000400000000000000" pitchFamily="2" charset="-78"/>
                <a:sym typeface="Arial"/>
              </a:rPr>
              <a:t>شما</a:t>
            </a:r>
            <a:endParaRPr sz="1100" dirty="0">
              <a:solidFill>
                <a:schemeClr val="lt1"/>
              </a:solidFill>
              <a:latin typeface="Calibri"/>
              <a:ea typeface="Calibri"/>
              <a:cs typeface="B Nazanin" panose="00000400000000000000" pitchFamily="2" charset="-78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00" b="0" i="0" dirty="0">
                <a:solidFill>
                  <a:srgbClr val="242424"/>
                </a:solidFill>
                <a:cs typeface="B Nazanin" panose="00000400000000000000" pitchFamily="2" charset="-78"/>
                <a:sym typeface="Arial"/>
              </a:rPr>
            </a:br>
            <a:endParaRPr sz="1500" dirty="0">
              <a:solidFill>
                <a:schemeClr val="dk1"/>
              </a:solidFill>
              <a:latin typeface="Calibri"/>
              <a:ea typeface="Calibri"/>
              <a:cs typeface="B Nazanin" panose="00000400000000000000" pitchFamily="2" charset="-78"/>
              <a:sym typeface="Calibri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1381762" y="3680579"/>
            <a:ext cx="1360602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"/>
              <a:buFont typeface="Times New Roman"/>
              <a:buNone/>
            </a:pPr>
            <a:r>
              <a:rPr lang="en-GB" sz="650" dirty="0">
                <a:solidFill>
                  <a:schemeClr val="lt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Aminkianiworkeng@gmail.com</a:t>
            </a:r>
            <a:endParaRPr sz="65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650" dirty="0">
                <a:solidFill>
                  <a:schemeClr val="lt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https://github.com/M-Amin-Kiani</a:t>
            </a:r>
            <a:r>
              <a:rPr lang="en-GB" sz="65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endParaRPr sz="65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8"/>
          <p:cNvSpPr txBox="1"/>
          <p:nvPr/>
        </p:nvSpPr>
        <p:spPr>
          <a:xfrm>
            <a:off x="710378" y="416050"/>
            <a:ext cx="497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>
                <a:solidFill>
                  <a:schemeClr val="lt1"/>
                </a:solidFill>
                <a:latin typeface="Vazirmatn"/>
                <a:ea typeface="Vazirmatn"/>
                <a:cs typeface="B Nazanin" panose="00000400000000000000" pitchFamily="2" charset="-78"/>
                <a:sym typeface="Vazirmatn"/>
              </a:rPr>
              <a:t>منابع</a:t>
            </a:r>
            <a:endParaRPr sz="3200" dirty="0">
              <a:solidFill>
                <a:schemeClr val="lt1"/>
              </a:solidFill>
              <a:latin typeface="Vazirmatn"/>
              <a:ea typeface="Vazirmatn"/>
              <a:cs typeface="B Nazanin" panose="00000400000000000000" pitchFamily="2" charset="-78"/>
              <a:sym typeface="Vazirmat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6267DA-2D1A-9658-37FE-A8CF11D59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770" y="2571750"/>
            <a:ext cx="2869060" cy="23584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584</Words>
  <Application>Microsoft Office PowerPoint</Application>
  <PresentationFormat>On-screen Show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Times New Roman</vt:lpstr>
      <vt:lpstr>B Nazanin</vt:lpstr>
      <vt:lpstr>Arial</vt:lpstr>
      <vt:lpstr>Vazirmatn</vt:lpstr>
      <vt:lpstr>Calibri</vt:lpstr>
      <vt:lpstr>Vazirmatn Light</vt:lpstr>
      <vt:lpstr>Vazirmatn Black</vt:lpstr>
      <vt:lpstr>Simple Light</vt:lpstr>
      <vt:lpstr>Office Theme</vt:lpstr>
      <vt:lpstr>تشخیص ناهنجاری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Prog2</dc:creator>
  <cp:lastModifiedBy>Amin Kiani</cp:lastModifiedBy>
  <cp:revision>30</cp:revision>
  <dcterms:modified xsi:type="dcterms:W3CDTF">2026-02-17T19:25:59Z</dcterms:modified>
</cp:coreProperties>
</file>